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9" r:id="rId18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850000"/>
            <a:ext cx="9144000" cy="2500000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3200"/>
            </a:br>
            <a:br>
              <a:rPr lang="en-US" sz="3200"/>
            </a:br>
            <a:r>
              <a:rPr lang="en-US" sz="3200" b="1" dirty="0">
                <a:solidFill>
                  <a:srgbClr val="C00000"/>
                </a:solidFill>
                <a:latin typeface="+mn-lt"/>
              </a:rPr>
              <a:t>Large Prime Number Validation Using Miller–Rabin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46120" y="3474720"/>
            <a:ext cx="6309360" cy="3108960"/>
          </a:xfrm>
        </p:spPr>
        <p:txBody>
          <a:bodyPr>
            <a:noAutofit/>
          </a:bodyPr>
          <a:lstStyle/>
          <a:p>
            <a:pPr algn="ctr">
              <a:spcAft>
                <a:spcPts val="300"/>
              </a:spcAft>
            </a:pPr>
            <a:r>
              <a:rPr lang="en-US" sz="1800" b="1" dirty="0">
                <a:solidFill>
                  <a:srgbClr val="0070C0"/>
                </a:solidFill>
              </a:rPr>
              <a:t>Team Members</a:t>
            </a:r>
          </a:p>
          <a:p>
            <a:pPr algn="ctr">
              <a:spcAft>
                <a:spcPts val="200"/>
              </a:spcAft>
            </a:pPr>
            <a:r>
              <a:rPr lang="en-US" sz="1700" b="0" dirty="0">
                <a:solidFill>
                  <a:srgbClr val="0070C0"/>
                </a:solidFill>
              </a:rPr>
              <a:t>Ratna Priya (2520030156)</a:t>
            </a:r>
          </a:p>
          <a:p>
            <a:pPr algn="ctr">
              <a:spcAft>
                <a:spcPts val="200"/>
              </a:spcAft>
            </a:pPr>
            <a:r>
              <a:rPr lang="en-US" sz="1700" b="0" dirty="0">
                <a:solidFill>
                  <a:srgbClr val="0070C0"/>
                </a:solidFill>
              </a:rPr>
              <a:t>Vaibhava Sree (2520030398)</a:t>
            </a:r>
          </a:p>
          <a:p>
            <a:pPr algn="ctr">
              <a:spcAft>
                <a:spcPts val="200"/>
              </a:spcAft>
            </a:pPr>
            <a:r>
              <a:rPr lang="en-US" sz="1700" b="0" dirty="0">
                <a:solidFill>
                  <a:srgbClr val="0070C0"/>
                </a:solidFill>
              </a:rPr>
              <a:t>Chandra Hasini (2520030086)</a:t>
            </a:r>
          </a:p>
          <a:p>
            <a:pPr algn="ctr">
              <a:spcAft>
                <a:spcPts val="1200"/>
              </a:spcAft>
            </a:pPr>
            <a:r>
              <a:rPr lang="en-US" sz="1700" b="0" dirty="0">
                <a:solidFill>
                  <a:srgbClr val="0070C0"/>
                </a:solidFill>
              </a:rPr>
              <a:t>Team Number: 01  |  Section: 05</a:t>
            </a:r>
          </a:p>
          <a:p>
            <a:pPr algn="ctr">
              <a:spcAft>
                <a:spcPts val="300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Under the Esteemed Guidance of</a:t>
            </a:r>
          </a:p>
          <a:p>
            <a:pPr algn="ctr">
              <a:spcAft>
                <a:spcPts val="0"/>
              </a:spcAft>
            </a:pP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D. Swathi</a:t>
            </a:r>
          </a:p>
          <a:p>
            <a:pPr algn="ctr">
              <a:spcAft>
                <a:spcPts val="0"/>
              </a:spcAft>
            </a:pP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Professor, CSE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10332720" cy="5120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This project is a web-based service to check whether a very large number is prime.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It uses the Miller–Rabin primality test, a randomized (probabilistic) algorithm.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Trial division is too slow for very large numbers.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The number is tested in many random rounds.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If a witness is found, the number is Composite. Otherwise it is Probably Prime.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The application shows the result, execution time and confidence level.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10332720" cy="5120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A prime number has only two factors: 1 and itself.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Large prime numbers are used in RSA and other security systems.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Trial division checks up to √n, so it is very slow for big numbers.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Miller–Rabin is fast and gives the answer with very high confidence.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Composite result is always correct. Probably Prime result has a very small error chance.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Syllabus link: DSA-3 Module-1, large-prime primality testing (randomised algorithms).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188720"/>
          <a:ext cx="10149840" cy="3730752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2560320"/>
                <a:gridCol w="4663440"/>
              </a:tblGrid>
              <a:tr h="62179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Drawback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Trial Division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Very slow for large numbers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Fermat Test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Probabilistic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Fails for Carmichael numbers like 561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Solovay–Strassen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Probabilistic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Error is higher (up to 1/2 per round)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Miller–Rabin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Probabilistic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Gives only Probably Prime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AKS Test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Calibri"/>
                        </a:rPr>
                        <a:t>Too slow in practice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120640"/>
            <a:ext cx="101498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2400" b="0">
                <a:solidFill>
                  <a:srgbClr val="262626"/>
                </a:solidFill>
                <a:latin typeface="Calibri"/>
              </a:rPr>
              <a:t>We chose Miller–Rabin because it is fast, simple to implement and its error becomes very small as rounds increase.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00000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8463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262626"/>
                </a:solidFill>
                <a:latin typeface="Calibri"/>
              </a:rPr>
              <a:t>Checking whether a very large number is prime is slow with trial division.</a:t>
            </a:r>
          </a:p>
          <a:p>
            <a:pPr algn="l">
              <a:spcAft>
                <a:spcPts val="0"/>
              </a:spcAft>
            </a:pPr>
            <a:r>
              <a:rPr sz="2400" b="0">
                <a:solidFill>
                  <a:srgbClr val="262626"/>
                </a:solidFill>
                <a:latin typeface="Calibri"/>
              </a:rPr>
              <a:t>We need a fast method that shows the result with a confidence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4300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00000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21208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sz="2400" b="0">
                <a:solidFill>
                  <a:srgbClr val="262626"/>
                </a:solidFill>
                <a:latin typeface="Calibri"/>
              </a:rPr>
              <a:t>Build a web service to validate large numbers</a:t>
            </a:r>
          </a:p>
          <a:p>
            <a:pPr algn="l" marL="256032" indent="-256032"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sz="2400" b="0">
                <a:solidFill>
                  <a:srgbClr val="262626"/>
                </a:solidFill>
                <a:latin typeface="Calibri"/>
              </a:rPr>
              <a:t>Implement the Miller–Rabin test</a:t>
            </a:r>
          </a:p>
          <a:p>
            <a:pPr algn="l" marL="256032" indent="-256032"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sz="2400" b="0">
                <a:solidFill>
                  <a:srgbClr val="262626"/>
                </a:solidFill>
                <a:latin typeface="Calibri"/>
              </a:rPr>
              <a:t>Use random bases in multiple rounds</a:t>
            </a:r>
          </a:p>
          <a:p>
            <a:pPr algn="l" marL="256032" indent="-256032"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sz="2400" b="0">
                <a:solidFill>
                  <a:srgbClr val="262626"/>
                </a:solidFill>
                <a:latin typeface="Calibri"/>
              </a:rPr>
              <a:t>Show result, time and confidence level</a:t>
            </a:r>
          </a:p>
          <a:p>
            <a:pPr algn="l" marL="256032" indent="-256032"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sz="2400" b="0">
                <a:solidFill>
                  <a:srgbClr val="262626"/>
                </a:solidFill>
                <a:latin typeface="Calibri"/>
              </a:rPr>
              <a:t>Show that it is faster than trial division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1. Input n and 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28016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2. Check small cases (n &lt; 2, even)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8016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3. Write n - 1 = 2^s x 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28016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4. Repeat k rounds: pick random a and 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1737360"/>
            <a:ext cx="45720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1737360"/>
            <a:ext cx="45720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86800" y="1737360"/>
            <a:ext cx="45720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9098280" y="2788920"/>
            <a:ext cx="2377440" cy="15544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5. Witness found?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87000" y="2194560"/>
            <a:ext cx="0" cy="59436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0" y="310896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Calibri"/>
              </a:rPr>
              <a:t>Composite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686800" y="3566160"/>
            <a:ext cx="4114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49640" y="3182112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502920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Calibri"/>
              </a:rPr>
              <a:t>Probably Prime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87000" y="4343400"/>
            <a:ext cx="0" cy="68580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78440" y="43891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02920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6. Show result, time and 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43800" y="4023360"/>
            <a:ext cx="0" cy="100584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686800" y="5463540"/>
            <a:ext cx="45720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2926080"/>
            <a:ext cx="51206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2000" b="0">
                <a:solidFill>
                  <a:srgbClr val="262626"/>
                </a:solidFill>
                <a:latin typeface="Calibri"/>
              </a:rPr>
              <a:t>n = number to test</a:t>
            </a:r>
          </a:p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2000" b="0">
                <a:solidFill>
                  <a:srgbClr val="262626"/>
                </a:solidFill>
                <a:latin typeface="Calibri"/>
              </a:rPr>
              <a:t>k = number of random rounds</a:t>
            </a:r>
          </a:p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2000" b="0">
                <a:solidFill>
                  <a:srgbClr val="262626"/>
                </a:solidFill>
                <a:latin typeface="Calibri"/>
              </a:rPr>
              <a:t>a = random base used in each 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143000"/>
          <a:ext cx="5760720" cy="493776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1097280"/>
                <a:gridCol w="2194560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Input number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Digits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Probably Prime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561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1105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2^31 - 1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Probably Prime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2^61 - 1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Probably Prime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2^127 - 1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Probably Prime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2^127 + 1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2^521 - 1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</a:rPr>
                        <a:t>Probably Prime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11430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Calibri"/>
              </a:rPr>
              <a:t>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1800" b="0">
                <a:solidFill>
                  <a:srgbClr val="262626"/>
                </a:solidFill>
                <a:latin typeface="Calibri"/>
              </a:rPr>
              <a:t>Tested with 20 rounds. All results are correct.</a:t>
            </a:r>
          </a:p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1800" b="0">
                <a:solidFill>
                  <a:srgbClr val="262626"/>
                </a:solidFill>
                <a:latin typeface="Calibri"/>
              </a:rPr>
              <a:t>561 and 1105 are Carmichael numbers, and they are correctly found composite.</a:t>
            </a:r>
          </a:p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1800" b="0">
                <a:solidFill>
                  <a:srgbClr val="262626"/>
                </a:solidFill>
                <a:latin typeface="Calibri"/>
              </a:rPr>
              <a:t>Error chance after k rounds is at most 1/4^k.</a:t>
            </a:r>
          </a:p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1800" b="0">
                <a:solidFill>
                  <a:srgbClr val="262626"/>
                </a:solidFill>
                <a:latin typeface="Calibri"/>
              </a:rPr>
              <a:t>For 20 rounds it is less than 1 in 10^12.</a:t>
            </a:r>
          </a:p>
          <a:p>
            <a:pPr algn="l" marL="256032" indent="-256032"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sz="1800" b="0">
                <a:solidFill>
                  <a:srgbClr val="262626"/>
                </a:solidFill>
                <a:latin typeface="Calibri"/>
              </a:rPr>
              <a:t>Trial division on 2^127 - 1 needs about 10^19 steps. Miller–Rabin needs only a few thousand multiplications.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188720"/>
          <a:ext cx="10149840" cy="475488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108960"/>
                <a:gridCol w="4663440"/>
              </a:tblGrid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475488">
                <a:tc rowSpan="4"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C00000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Laptop / Desktop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Minimum 4 GB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Keyboard and Mouse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Internet connection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rowSpan="5"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C00000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Operating System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Windows / macOS / Linux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HTML, CSS, JavaScript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Code Editor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VS Code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Browser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62626"/>
                          </a:solidFill>
                          <a:latin typeface="Calibri"/>
                        </a:rPr>
                        <a:t>Chrome / Edge</a:t>
                      </a:r>
                    </a:p>
                  </a:txBody>
                  <a:tcPr anchor="ctr" marL="91440" marR="9144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10332720" cy="5120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The project validates very large numbers using the Miller–Rabin algorithm.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It is much faster than trial division.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A witness proves a number is composite.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More rounds give higher confidence that a number is prime.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The web application shows result, execution time and confidence level.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It shows how a randomised algorithm can solve a real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10332720" cy="5120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Deterministic test for 64-bit numbers using fixed bases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Combine with Baillie–PSW / Lucas test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Generate large prime numbers for RSA keys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Run the rounds in parallel using multiple threads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Upload a file and test many numbers at once</a:t>
            </a:r>
          </a:p>
          <a:p>
            <a:pPr algn="l" marL="256032" indent="-256032"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sz="2800" b="0">
                <a:solidFill>
                  <a:srgbClr val="262626"/>
                </a:solidFill>
                <a:latin typeface="Calibri"/>
              </a:rPr>
              <a:t>Deploy on the cloud with user login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GEO-TAG Photos</a:t>
            </a:r>
          </a:p>
        </p:txBody>
      </p:sp>
      <p:pic>
        <p:nvPicPr>
          <p:cNvPr id="5" name="Picture 4" descr="WhatsApp_Image_2026-09-28_at_2_40_22_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00200"/>
            <a:ext cx="5166360" cy="3874770"/>
          </a:xfrm>
          <a:prstGeom prst="rect">
            <a:avLst/>
          </a:prstGeom>
        </p:spPr>
      </p:pic>
      <p:pic>
        <p:nvPicPr>
          <p:cNvPr id="6" name="Picture 5" descr="WhatsApp_Image_2026-09-28_at_2_40_23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5166360" cy="38747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